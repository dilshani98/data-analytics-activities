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-822960"/>
            <a:ext cx="3200400" cy="3200400"/>
          </a:xfrm>
          <a:prstGeom prst="ellipse">
            <a:avLst/>
          </a:prstGeom>
          <a:solidFill>
            <a:srgbClr val="21295C">
              <a:alpha val="60000"/>
            </a:srgbClr>
          </a:solidFill>
          <a:ln w="12700">
            <a:solidFill>
              <a:srgbClr val="21295C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-274320"/>
            <a:ext cx="2103120" cy="2103120"/>
          </a:xfrm>
          <a:prstGeom prst="ellipse">
            <a:avLst/>
          </a:prstGeom>
          <a:solidFill>
            <a:srgbClr val="1C7293">
              <a:alpha val="45000"/>
            </a:srgbClr>
          </a:solidFill>
          <a:ln w="12700">
            <a:solidFill>
              <a:srgbClr val="1C7293">
                <a:alpha val="4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43891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A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 |  WEEK 3 ACTIVITY 2  |  YOOBEE COLLEGES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47472" y="914400"/>
            <a:ext cx="77724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</a:t>
            </a:r>
            <a:endParaRPr lang="en-US" sz="4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Analysis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347472" y="28803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9A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Algorithm — Linear Correlation Between Features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47472" y="3493008"/>
            <a:ext cx="3840480" cy="502920"/>
          </a:xfrm>
          <a:prstGeom prst="rect">
            <a:avLst/>
          </a:prstGeom>
          <a:solidFill>
            <a:srgbClr val="1C7293">
              <a:alpha val="75000"/>
            </a:srgbClr>
          </a:solidFill>
          <a:ln w="12700">
            <a:solidFill>
              <a:srgbClr val="9AC8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349300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messy_dataset_Mukesh.csv  |  10 rows  |  6 columns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47472" y="4736592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→ Analysed → Visualised → Interpreted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21B2E"/>
          </a:solidFill>
          <a:ln w="12700">
            <a:solidFill>
              <a:srgbClr val="021B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Load &amp; Identify Problems in the Raw Data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20040" y="749808"/>
            <a:ext cx="1965960" cy="1170432"/>
          </a:xfrm>
          <a:prstGeom prst="rect">
            <a:avLst/>
          </a:prstGeom>
          <a:solidFill>
            <a:srgbClr val="021B2E"/>
          </a:solidFill>
          <a:ln w="12700">
            <a:solidFill>
              <a:srgbClr val="021B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77240"/>
            <a:ext cx="1965960" cy="6583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20040" y="1444752"/>
            <a:ext cx="196596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Rows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96312" y="749808"/>
            <a:ext cx="1965960" cy="117043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96312" y="777240"/>
            <a:ext cx="1965960" cy="6583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496312" y="1444752"/>
            <a:ext cx="196596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72584" y="749808"/>
            <a:ext cx="1965960" cy="1170432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72584" y="777240"/>
            <a:ext cx="1965960" cy="6583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672584" y="1444752"/>
            <a:ext cx="196596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A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48856" y="749808"/>
            <a:ext cx="1965960" cy="1170432"/>
          </a:xfrm>
          <a:prstGeom prst="rect">
            <a:avLst/>
          </a:prstGeom>
          <a:solidFill>
            <a:srgbClr val="3BB273"/>
          </a:solidFill>
          <a:ln w="12700">
            <a:solidFill>
              <a:srgbClr val="3BB27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48856" y="777240"/>
            <a:ext cx="1965960" cy="6583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848856" y="1444752"/>
            <a:ext cx="196596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Rows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A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Fix</a:t>
            </a:r>
            <a:endParaRPr lang="en-US" sz="11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029968"/>
            <a:ext cx="8503920" cy="290779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Data Cleaning Process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 Before vs After</a:t>
            </a:r>
            <a:endParaRPr lang="en-US" sz="1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042416"/>
            <a:ext cx="5029200" cy="2926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532120" y="74980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Strategy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532120" y="1051560"/>
            <a:ext cx="3291840" cy="868680"/>
          </a:xfrm>
          <a:prstGeom prst="rect">
            <a:avLst/>
          </a:prstGeom>
          <a:solidFill>
            <a:srgbClr val="021B2E"/>
          </a:solidFill>
          <a:ln w="12700">
            <a:solidFill>
              <a:srgbClr val="021B2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669280" y="1106424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→ Numbers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669280" y="1389888"/>
            <a:ext cx="3017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A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'thirty-eight' → 38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A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'sixty five thousand' → 65000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532120" y="2039112"/>
            <a:ext cx="3291840" cy="8686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0" y="2093976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Dates Fixed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669280" y="2377440"/>
            <a:ext cx="3017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A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month 13 corrected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A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formats standardised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532120" y="3026664"/>
            <a:ext cx="3291840" cy="86868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669280" y="308152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 Merged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669280" y="3364992"/>
            <a:ext cx="3017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A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Bob's 2 rows merged into 1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A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first non-null values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532120" y="4014216"/>
            <a:ext cx="3291840" cy="868680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669280" y="40690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Filled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669280" y="4352544"/>
            <a:ext cx="3017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A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→ median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A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→ mode (NZ)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320040" y="4096512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9 clean rows · 0 missing values (except Charlie's unrecoverable join date)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Outlier Detection Using IQR Method</a:t>
            </a:r>
            <a:endParaRPr lang="en-US" sz="15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749808"/>
            <a:ext cx="8503920" cy="3200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20040" y="4096512"/>
            <a:ext cx="41148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20040" y="4096512"/>
            <a:ext cx="64008" cy="841248"/>
          </a:xfrm>
          <a:prstGeom prst="rect">
            <a:avLst/>
          </a:prstGeom>
          <a:solidFill>
            <a:srgbClr val="3BB273"/>
          </a:solidFill>
          <a:ln w="12700">
            <a:solidFill>
              <a:srgbClr val="3BB27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29768" y="41148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 |  Q1=25.8  Q3=36.3  IQR=10.5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29768" y="438912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Bounds: 9.5 – 52.0  →  No outliers found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754880" y="4096512"/>
            <a:ext cx="41148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754880" y="4096512"/>
            <a:ext cx="64008" cy="841248"/>
          </a:xfrm>
          <a:prstGeom prst="rect">
            <a:avLst/>
          </a:prstGeom>
          <a:solidFill>
            <a:srgbClr val="3BB273"/>
          </a:solidFill>
          <a:ln w="12700">
            <a:solidFill>
              <a:srgbClr val="3BB27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864608" y="41148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 |  Q1=$58.5k  Q3=$66k  IQR=$7.5k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864608" y="438912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Bounds: $47.3k – $77.3k  →  No outliers found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21B2E"/>
          </a:solidFill>
          <a:ln w="12700">
            <a:solidFill>
              <a:srgbClr val="021B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— Pearson Correlation Heatmap</a:t>
            </a:r>
            <a:endParaRPr lang="en-US" sz="15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749808"/>
            <a:ext cx="4389120" cy="4206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37760" y="7772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r = 0.6289 mean?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937760" y="1207008"/>
            <a:ext cx="1874520" cy="13258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0" y="1298448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value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029200" y="1527048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0.6289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5029200" y="1920240"/>
            <a:ext cx="1691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A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positive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A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relationship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967728" y="1207008"/>
            <a:ext cx="1874520" cy="132588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059168" y="1298448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059168" y="1527048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0.0696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7059168" y="1920240"/>
            <a:ext cx="1691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A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significant at p&lt;0.05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A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(small sample)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937760" y="2688336"/>
            <a:ext cx="1874520" cy="1325880"/>
          </a:xfrm>
          <a:prstGeom prst="rect">
            <a:avLst/>
          </a:prstGeom>
          <a:solidFill>
            <a:srgbClr val="021B2E"/>
          </a:solidFill>
          <a:ln w="12700">
            <a:solidFill>
              <a:srgbClr val="021B2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29200" y="2779776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029200" y="3008376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5029200" y="3401568"/>
            <a:ext cx="1691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A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Age increases,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A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increases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6967728" y="2688336"/>
            <a:ext cx="1874520" cy="1325880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059168" y="2779776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7059168" y="3008376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9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7059168" y="3401568"/>
            <a:ext cx="1691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A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dataset — larger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A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needed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4937760" y="4169664"/>
            <a:ext cx="3886200" cy="749808"/>
          </a:xfrm>
          <a:prstGeom prst="rect">
            <a:avLst/>
          </a:prstGeom>
          <a:solidFill>
            <a:srgbClr val="F0F6FA"/>
          </a:solidFill>
          <a:ln w="12700">
            <a:solidFill>
              <a:srgbClr val="D0DDE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074920" y="4224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formula:  r = S_xy  /  (S_x × S_y)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5074920" y="450799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S_xy = sample covariance, S_x and S_y = standard deviations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— Visualisation: Age vs Salary Scatter Plot</a:t>
            </a:r>
            <a:endParaRPr lang="en-US" sz="15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749808"/>
            <a:ext cx="8503920" cy="3657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20040" y="4526280"/>
            <a:ext cx="8503920" cy="457200"/>
          </a:xfrm>
          <a:prstGeom prst="rect">
            <a:avLst/>
          </a:prstGeom>
          <a:solidFill>
            <a:srgbClr val="021B2E"/>
          </a:solidFill>
          <a:ln w="12700">
            <a:solidFill>
              <a:srgbClr val="021B2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4526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red trend line shows a moderate upward slope — older employees tend to earn more, though with some variation (e.g. Grace aged 22 earns $64k, close to Bob aged 30 on $60k).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2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2743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Story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84048" y="80467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Activity 2 — Data Cleaning &amp; Pearson Correlation Analysis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84048" y="1325880"/>
            <a:ext cx="402336" cy="40233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13258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86968" y="130759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A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Raw Data Was Messy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86968" y="1600200"/>
            <a:ext cx="3749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B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had 7 distinct problems — text where numbers should be, an impossible date, duplicate rows, inconsistent country codes, and missing values scattered across every column.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84048" y="2569464"/>
            <a:ext cx="402336" cy="40233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25694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86968" y="255117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A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Made It Usable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968" y="2843784"/>
            <a:ext cx="3749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B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problem was fixed systematically: text converted to numbers, invalid date corrected, Bob's duplicate rows merged, country codes standardised, and missing values filled with median and mode.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84048" y="3813048"/>
            <a:ext cx="402336" cy="40233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38130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86968" y="37947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A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Outliers Were Found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86968" y="4087368"/>
            <a:ext cx="3749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B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cleaning, both Age (22–40) and Salary ($55k–$72k) were well within IQR bounds. The data was consistent with no extreme values distorting the analysis.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18888" y="1325880"/>
            <a:ext cx="402336" cy="40233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18888" y="13258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321808" y="130759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A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Moderate Correlation Exists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321808" y="1600200"/>
            <a:ext cx="3749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B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r = 0.6289 shows a moderate positive relationship. Older employees earn more — but the p-value of 0.0696 means we cannot be fully confident with just 9 data points.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18888" y="2569464"/>
            <a:ext cx="402336" cy="40233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18888" y="25694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321808" y="255117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A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≠ Causation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321808" y="2843784"/>
            <a:ext cx="3749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B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does not directly cause higher salary. Experience, career progression, and seniority are the real drivers. A larger dataset is needed to draw firm conclusions.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18888" y="3813048"/>
            <a:ext cx="402336" cy="40233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18888" y="38130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321808" y="37947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AC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Matters Most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321808" y="4087368"/>
            <a:ext cx="3749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B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the cleaning steps, the correlation analysis would have failed entirely — text values cannot be correlated. Clean data is the foundation of any reliable insight.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84048" y="4828032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 Data Analytics  |  Yoobee Colleges  |  2511-YCCIA-MSE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3 Activity 2 — Data Cleaning &amp; Correlation Analysis</dc:title>
  <dc:subject>PptxGenJS Presentation</dc:subject>
  <dc:creator>PptxGenJS</dc:creator>
  <cp:lastModifiedBy>PptxGenJS</cp:lastModifiedBy>
  <cp:revision>1</cp:revision>
  <dcterms:created xsi:type="dcterms:W3CDTF">2026-05-02T18:49:16Z</dcterms:created>
  <dcterms:modified xsi:type="dcterms:W3CDTF">2026-05-02T18:49:16Z</dcterms:modified>
</cp:coreProperties>
</file>